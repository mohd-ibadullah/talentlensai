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02729"/>
                </a:solidFill>
              </a:rPr>
              <a:t>Team Name: TalentLens AI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02729"/>
                </a:solidFill>
              </a:rPr>
              <a:t>Problem Statement: Intelligent Candidate Discovery &amp; Ranking (100K candidates on CPU)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02729"/>
                </a:solidFill>
              </a:rPr>
              <a:t>Team Leader: Mohd Ibadullah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TalentLens AI is a 6-stage intelligent candidate ranking pipeline that processes 100,000 profiles in ~140 seconds on CPU-only hardware. It combines BM25 filtering, Honeypot detection, BGE semantic embeddings (BAAI/bge-base-en-v1.5), Cross-Encoder reranking (ms-marco-MiniLM-L6-v2), and Redrob behavioral signals to produce a validated ranked shortlist of the top 100 candidates.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What differentiates your approach from traditional candidate matching systems?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• Cross-Encoder Reranking: Applies ms-marco-MiniLM-L6-v2 on top-150 candidates for precise lexical-semantic contextual relevance.</a:t>
            </a:r>
          </a:p>
          <a:p>
            <a:r>
              <a:rPr sz="900">
                <a:solidFill>
                  <a:srgbClr val="202729"/>
                </a:solidFill>
              </a:rPr>
              <a:t>• Honeypot Trap Detector: Identifies keyword-stuffed decoy profiles by cross-checking career history against claimed skills (0.0% honeypot rate in top 100).</a:t>
            </a:r>
          </a:p>
          <a:p>
            <a:r>
              <a:rPr sz="900">
                <a:solidFill>
                  <a:srgbClr val="202729"/>
                </a:solidFill>
              </a:rPr>
              <a:t>• Signal-Aware Scoring: Integrates recruiter response rate, notice period, GitHub activity, and profile completeness — treating missing values as neutral, not penalties.</a:t>
            </a:r>
          </a:p>
          <a:p>
            <a:r>
              <a:rPr sz="900">
                <a:solidFill>
                  <a:srgbClr val="202729"/>
                </a:solidFill>
              </a:rPr>
              <a:t>• Hybrid Reasoning: Uses a deterministic rule-based generator for offline reproduction, and an offline Gemini/Groq utility for natural, rank-consistent CSV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800" b="1">
                <a:solidFill>
                  <a:srgbClr val="202729"/>
                </a:solidFill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• Role title, seniority level, minimum years of experience</a:t>
            </a:r>
          </a:p>
          <a:p>
            <a:r>
              <a:rPr sz="900">
                <a:solidFill>
                  <a:srgbClr val="202729"/>
                </a:solidFill>
              </a:rPr>
              <a:t>• Required skills: Python, NLP, Vector Search, Embeddings, LLM Fine-tuning, Information Retrieval, Ranking Systems</a:t>
            </a:r>
          </a:p>
          <a:p>
            <a:r>
              <a:rPr sz="900">
                <a:solidFill>
                  <a:srgbClr val="202729"/>
                </a:solidFill>
              </a:rPr>
              <a:t>• Nice-to-have skills: PyTorch, TensorFlow, MLOps, RAG, FAISS, Milvus, Pinecone</a:t>
            </a:r>
          </a:p>
          <a:p>
            <a:r>
              <a:rPr sz="900">
                <a:solidFill>
                  <a:srgbClr val="202729"/>
                </a:solidFill>
              </a:rPr>
              <a:t>• Domain keywords for lexical search boosting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Which candidate signals are most important for determining relevance?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• Cross-Encoder reranking relevance (ms-marco-MiniLM-L6-v2)</a:t>
            </a:r>
          </a:p>
          <a:p>
            <a:r>
              <a:rPr sz="900">
                <a:solidFill>
                  <a:srgbClr val="202729"/>
                </a:solidFill>
              </a:rPr>
              <a:t>• Semantic similarity (BAAI/bge-base-en-v1.5, 768-dim embeddings)</a:t>
            </a:r>
          </a:p>
          <a:p>
            <a:r>
              <a:rPr sz="900">
                <a:solidFill>
                  <a:srgbClr val="202729"/>
                </a:solidFill>
              </a:rPr>
              <a:t>• Skill overlap with proficiency weighting and endorsement bonuses</a:t>
            </a:r>
          </a:p>
          <a:p>
            <a:r>
              <a:rPr sz="900">
                <a:solidFill>
                  <a:srgbClr val="202729"/>
                </a:solidFill>
              </a:rPr>
              <a:t>• Title relevance + years of experience fit</a:t>
            </a:r>
          </a:p>
          <a:p>
            <a:r>
              <a:rPr sz="900">
                <a:solidFill>
                  <a:srgbClr val="202729"/>
                </a:solidFill>
              </a:rPr>
              <a:t>• Redrob behavioral signals (recruiter response rate, notice period, GitHub activity, profile completeness)</a:t>
            </a:r>
          </a:p>
          <a:p>
            <a:r>
              <a:rPr sz="900">
                <a:solidFill>
                  <a:srgbClr val="202729"/>
                </a:solidFill>
              </a:rPr>
              <a:t>• Career history consistency (used for honeypot detection)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How does your system retrieve, score,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Stage 1 — BM25 Filter: Narrows 100K to 1,000 candidates in ~8 seconds using tokenized JD terms.</a:t>
            </a:r>
          </a:p>
          <a:p>
            <a:r>
              <a:rPr sz="900">
                <a:solidFill>
                  <a:srgbClr val="202729"/>
                </a:solidFill>
              </a:rPr>
              <a:t>Stage 2 — Honeypot Trap Detector: Flags decoys with career-title mismatches and boilerplate summaries.</a:t>
            </a:r>
          </a:p>
          <a:p>
            <a:r>
              <a:rPr sz="900">
                <a:solidFill>
                  <a:srgbClr val="202729"/>
                </a:solidFill>
              </a:rPr>
              <a:t>Stage 3 — Semantic Embedding: BAAI/bge-base-en-v1.5 computes similarity between JD and candidates.</a:t>
            </a:r>
          </a:p>
          <a:p>
            <a:r>
              <a:rPr sz="900">
                <a:solidFill>
                  <a:srgbClr val="202729"/>
                </a:solidFill>
              </a:rPr>
              <a:t>Stage 4 — Cross-Encoder Reranking: Reranks top 150 candidates using ms-marco-MiniLM-L6-v2.</a:t>
            </a:r>
          </a:p>
          <a:p>
            <a:r>
              <a:rPr sz="900">
                <a:solidFill>
                  <a:srgbClr val="202729"/>
                </a:solidFill>
              </a:rPr>
              <a:t>Stage 5 — Weighted Feature Scoring: Final Score = 100 × (0.35×Semantic + 0.30×Skills + 0.15×Title + 0.10×Signals) / 0.90 − 0.40×TrapPenalty.</a:t>
            </a:r>
          </a:p>
          <a:p>
            <a:r>
              <a:rPr sz="900">
                <a:solidFill>
                  <a:srgbClr val="202729"/>
                </a:solidFill>
              </a:rPr>
              <a:t>Stage 6 — Tie-breaking: score descending, then candidate_id ascending.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Models &amp; Algorithms Used:</a:t>
            </a:r>
          </a:p>
          <a:p>
            <a:r>
              <a:rPr sz="900">
                <a:solidFill>
                  <a:srgbClr val="202729"/>
                </a:solidFill>
              </a:rPr>
              <a:t>• BM25Okapi (rank-bm25) for lexical retrieval</a:t>
            </a:r>
          </a:p>
          <a:p>
            <a:r>
              <a:rPr sz="900">
                <a:solidFill>
                  <a:srgbClr val="202729"/>
                </a:solidFill>
              </a:rPr>
              <a:t>• BAAI/bge-base-en-v1.5 transformer (768-dim, CLS pooling, instruction prefix)</a:t>
            </a:r>
          </a:p>
          <a:p>
            <a:r>
              <a:rPr sz="900">
                <a:solidFill>
                  <a:srgbClr val="202729"/>
                </a:solidFill>
              </a:rPr>
              <a:t>• cross-encoder/ms-marco-MiniLM-L6-v2 for contextual reranking</a:t>
            </a:r>
          </a:p>
          <a:p>
            <a:r>
              <a:rPr sz="900">
                <a:solidFill>
                  <a:srgbClr val="202729"/>
                </a:solidFill>
              </a:rPr>
              <a:t>• RapidFuzz token_sort_ratio (85% threshold) for fuzzy skill matching</a:t>
            </a:r>
          </a:p>
          <a:p>
            <a:r>
              <a:rPr sz="900">
                <a:solidFill>
                  <a:srgbClr val="202729"/>
                </a:solidFill>
              </a:rPr>
              <a:t>• Rule-based honeypot detector with 45 keywords across 12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>• Each candidate gets a unique reasoning referencing their actual matched skills, YoE, title, and signal data.</a:t>
            </a:r>
          </a:p>
          <a:p>
            <a:r>
              <a:rPr sz="900">
                <a:solidFill>
                  <a:srgbClr val="202729"/>
                </a:solidFill>
              </a:rPr>
              <a:t>• Tone is rank-consistent: top-15 get strong endorsements, 50+ get honest gap acknowledgments.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How do you prevent hallucinations or unsupported justifications?</a:t>
            </a:r>
          </a:p>
          <a:p>
            <a:r>
              <a:rPr sz="900">
                <a:solidFill>
                  <a:srgbClr val="202729"/>
                </a:solidFill>
              </a:rPr>
              <a:t>• Offline reproduction script runs fully offline with deterministic rule-based reasoning.</a:t>
            </a:r>
          </a:p>
          <a:p>
            <a:r>
              <a:rPr sz="900">
                <a:solidFill>
                  <a:srgbClr val="202729"/>
                </a:solidFill>
              </a:rPr>
              <a:t>• Offline Gemini/Groq generator utility creates natural, rank-consistent reasons in the final CSV.</a:t>
            </a:r>
          </a:p>
          <a:p>
            <a:r>
              <a:rPr sz="900">
                <a:solidFill>
                  <a:srgbClr val="202729"/>
                </a:solidFill>
              </a:rPr>
              <a:t>• Skills mentioned in reasoning are pulled directly from the candidate's profile data, never fabricated.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How does your solution handle inconsistent or suspicious profiles?</a:t>
            </a:r>
          </a:p>
          <a:p>
            <a:r>
              <a:rPr sz="900">
                <a:solidFill>
                  <a:srgbClr val="202729"/>
                </a:solidFill>
              </a:rPr>
              <a:t>• Honeypot detector checks: summary boilerplate, AI skill-stuffing on non-AI titles, career mismatches.</a:t>
            </a:r>
          </a:p>
          <a:p>
            <a:r>
              <a:rPr sz="900">
                <a:solidFill>
                  <a:srgbClr val="202729"/>
                </a:solidFill>
              </a:rPr>
              <a:t>• Trap penalty of up to 40 points subtracted from final score.</a:t>
            </a:r>
          </a:p>
          <a:p>
            <a:r>
              <a:rPr sz="900">
                <a:solidFill>
                  <a:srgbClr val="202729"/>
                </a:solidFill>
              </a:rPr>
              <a:t>• Result: 0.0% honeypot rate in top 100.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Complete Workflow (JD Input → Ranked CSV Output):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1. JD Parsing → Extracts role title, required/nice-to-have skills, experience, seniority, domain keywords.</a:t>
            </a:r>
          </a:p>
          <a:p>
            <a:r>
              <a:rPr sz="900">
                <a:solidFill>
                  <a:srgbClr val="202729"/>
                </a:solidFill>
              </a:rPr>
              <a:t>2. BM25 Filter → 100K candidates streamed from JSONL, lexically filtered to top 1,000.</a:t>
            </a:r>
          </a:p>
          <a:p>
            <a:r>
              <a:rPr sz="900">
                <a:solidFill>
                  <a:srgbClr val="202729"/>
                </a:solidFill>
              </a:rPr>
              <a:t>3. Honeypot Detection → Candidates checked for career-title inconsistency and template summaries.</a:t>
            </a:r>
          </a:p>
          <a:p>
            <a:r>
              <a:rPr sz="900">
                <a:solidFill>
                  <a:srgbClr val="202729"/>
                </a:solidFill>
              </a:rPr>
              <a:t>4. Semantic Embedding → BGE encodes JD and candidate profiles. Cosine similarity computed.</a:t>
            </a:r>
          </a:p>
          <a:p>
            <a:r>
              <a:rPr sz="900">
                <a:solidFill>
                  <a:srgbClr val="202729"/>
                </a:solidFill>
              </a:rPr>
              <a:t>5. Cross-Encoder → MiniLM reranks the top 150 candidates.</a:t>
            </a:r>
          </a:p>
          <a:p>
            <a:r>
              <a:rPr sz="900">
                <a:solidFill>
                  <a:srgbClr val="202729"/>
                </a:solidFill>
              </a:rPr>
              <a:t>6. Feature Scoring → Weighted: Semantic(35%) + Skills(30%) + Title(15%) + Signals(10%) − Trap(40%).</a:t>
            </a:r>
          </a:p>
          <a:p>
            <a:r>
              <a:rPr sz="900">
                <a:solidFill>
                  <a:srgbClr val="202729"/>
                </a:solidFill>
              </a:rPr>
              <a:t>7. Reasoning Generation → Rank-aware, candidate-specific reasons written to CSV.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Single reproduce command:</a:t>
            </a:r>
          </a:p>
          <a:p>
            <a:r>
              <a:rPr sz="900">
                <a:solidFill>
                  <a:srgbClr val="202729"/>
                </a:solidFill>
              </a:rPr>
              <a:t>python src/run_pipeline_full.py --candidates ./candidates.jsonl --out ./outputs/mohd_ibadullah.csv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Runtime: ~140 seconds | Memory: ~800MB | CPU only | No network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Ranking Quality Metrics (vs BM25 Lexical Baseline):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>• Precision@10: 1.0000 (ours) vs 0.4000 (baseline) — +150% boost</a:t>
            </a:r>
          </a:p>
          <a:p>
            <a:r>
              <a:rPr sz="900">
                <a:solidFill>
                  <a:srgbClr val="202729"/>
                </a:solidFill>
              </a:rPr>
              <a:t>• Recall@20: 1.0000 (ours) vs 0.4000 (baseline) — +150% boost</a:t>
            </a:r>
          </a:p>
          <a:p>
            <a:r>
              <a:rPr sz="900">
                <a:solidFill>
                  <a:srgbClr val="202729"/>
                </a:solidFill>
              </a:rPr>
              <a:t>• NDCG@10: 1.0000 (ours) vs 0.4288 (baseline) — +133.2% boost</a:t>
            </a:r>
          </a:p>
          <a:p>
            <a:r>
              <a:rPr sz="900">
                <a:solidFill>
                  <a:srgbClr val="202729"/>
                </a:solidFill>
              </a:rPr>
              <a:t>• Honeypot rate: 0.0% in Top 1000 after Stage 2 filter (vs 30.1% baseline)</a:t>
            </a:r>
          </a:p>
          <a:p>
            <a:r>
              <a:rPr sz="900">
                <a:solidFill>
                  <a:srgbClr val="202729"/>
                </a:solidFill>
              </a:rPr>
              <a:t>• 100 unique, non-templated reasonings, scores monotonically non-increasing</a:t>
            </a:r>
          </a:p>
          <a:p>
            <a:r>
              <a:rPr sz="900">
                <a:solidFill>
                  <a:srgbClr val="202729"/>
                </a:solidFill>
              </a:rPr>
              <a:t/>
            </a:r>
          </a:p>
          <a:p>
            <a:r>
              <a:rPr sz="900">
                <a:solidFill>
                  <a:srgbClr val="202729"/>
                </a:solidFill>
              </a:rPr>
              <a:t>Runtime &amp; Compute Constraints (reproduced locally on CPU):</a:t>
            </a:r>
          </a:p>
          <a:p>
            <a:r>
              <a:rPr sz="900">
                <a:solidFill>
                  <a:srgbClr val="202729"/>
                </a:solidFill>
              </a:rPr>
              <a:t>• Total runtime: ~140 seconds (budget: 300 seconds) — 53% under limit</a:t>
            </a:r>
          </a:p>
          <a:p>
            <a:r>
              <a:rPr sz="900">
                <a:solidFill>
                  <a:srgbClr val="202729"/>
                </a:solidFill>
              </a:rPr>
              <a:t>• Memory: ~800 MB (budget: 16 GB) — 95% under limit</a:t>
            </a:r>
          </a:p>
          <a:p>
            <a:r>
              <a:rPr sz="900">
                <a:solidFill>
                  <a:srgbClr val="202729"/>
                </a:solidFill>
              </a:rPr>
              <a:t>• CPU only — no GPU used</a:t>
            </a:r>
          </a:p>
          <a:p>
            <a:r>
              <a:rPr sz="900">
                <a:solidFill>
                  <a:srgbClr val="202729"/>
                </a:solidFill>
              </a:rPr>
              <a:t>• No external API calls during ranking (fully sandboxed)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900">
                <a:solidFill>
                  <a:srgbClr val="202729"/>
                </a:solidFill>
              </a:rPr>
              <a:t>Core Technologies &amp; Why: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900">
                <a:solidFill>
                  <a:srgbClr val="202729"/>
                </a:solidFill>
              </a:rPr>
              <a:t>• Python 3.12 — Primary programming language</a:t>
            </a:r>
          </a:p>
          <a:p>
            <a:r>
              <a:rPr sz="900">
                <a:solidFill>
                  <a:srgbClr val="202729"/>
                </a:solidFill>
              </a:rPr>
              <a:t>• BAAI/bge-base-en-v1.5 — 768-dim semantic embeddings, superior retrieval quality</a:t>
            </a:r>
          </a:p>
          <a:p>
            <a:r>
              <a:rPr sz="900">
                <a:solidFill>
                  <a:srgbClr val="202729"/>
                </a:solidFill>
              </a:rPr>
              <a:t>• cross-encoder/ms-marco-MiniLM-L6-v2 — Fine-grained semantic reranking on top 150 candidates</a:t>
            </a:r>
          </a:p>
          <a:p>
            <a:r>
              <a:rPr sz="900">
                <a:solidFill>
                  <a:srgbClr val="202729"/>
                </a:solidFill>
              </a:rPr>
              <a:t>• PyTorch — Model inference backend (CPU mode)</a:t>
            </a:r>
          </a:p>
          <a:p>
            <a:r>
              <a:rPr sz="900">
                <a:solidFill>
                  <a:srgbClr val="202729"/>
                </a:solidFill>
              </a:rPr>
              <a:t>• rank-bm25 (BM25Okapi) — Lexical filtering, fast and memory-efficient</a:t>
            </a:r>
          </a:p>
          <a:p>
            <a:r>
              <a:rPr sz="900">
                <a:solidFill>
                  <a:srgbClr val="202729"/>
                </a:solidFill>
              </a:rPr>
              <a:t>• RapidFuzz — Fuzzy skill matching with token_sort_ratio</a:t>
            </a:r>
          </a:p>
          <a:p>
            <a:r>
              <a:rPr sz="900">
                <a:solidFill>
                  <a:srgbClr val="202729"/>
                </a:solidFill>
              </a:rPr>
              <a:t>• Pandas &amp; NumPy — Numerical operations and output handling</a:t>
            </a:r>
          </a:p>
          <a:p>
            <a:r>
              <a:rPr sz="900">
                <a:solidFill>
                  <a:srgbClr val="202729"/>
                </a:solidFill>
              </a:rPr>
              <a:t>• Streamlit — Interactive web dashboard with dark theme and weight sliders</a:t>
            </a:r>
          </a:p>
          <a:p>
            <a:r>
              <a:rPr sz="900">
                <a:solidFill>
                  <a:srgbClr val="202729"/>
                </a:solidFill>
              </a:rPr>
              <a:t>• Gemini 2.5 Flash / Groq APIs — Interview question generator (demo feature)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800" b="1">
                <a:solidFill>
                  <a:srgbClr val="202729"/>
                </a:solidFill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729"/>
                </a:solidFill>
              </a:rPr>
              <a:t>GitHub Repository (Public):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r>
              <a:rPr sz="1000">
                <a:solidFill>
                  <a:srgbClr val="202729"/>
                </a:solidFill>
              </a:rPr>
              <a:t>https://github.com/mohd-ibadullah/TalentLensAI</a:t>
            </a:r>
          </a:p>
          <a:p>
            <a:r>
              <a:rPr sz="1000">
                <a:solidFill>
                  <a:srgbClr val="202729"/>
                </a:solidFill>
              </a:rPr>
              <a:t/>
            </a:r>
          </a:p>
          <a:p>
            <a:r>
              <a:rPr sz="1000">
                <a:solidFill>
                  <a:srgbClr val="202729"/>
                </a:solidFill>
              </a:rPr>
              <a:t>Live Demo (Streamlit Cloud):</a:t>
            </a:r>
          </a:p>
          <a:p>
            <a:r>
              <a:rPr sz="1000">
                <a:solidFill>
                  <a:srgbClr val="202729"/>
                </a:solidFill>
              </a:rPr>
              <a:t>https://talentlensai-nxrk7zxjmaxvnwnubyvz7n.streamlit.app</a:t>
            </a:r>
          </a:p>
          <a:p>
            <a:r>
              <a:rPr sz="1000">
                <a:solidFill>
                  <a:srgbClr val="202729"/>
                </a:solidFill>
              </a:rPr>
              <a:t/>
            </a:r>
          </a:p>
          <a:p>
            <a:r>
              <a:rPr sz="1000">
                <a:solidFill>
                  <a:srgbClr val="202729"/>
                </a:solidFill>
              </a:rPr>
              <a:t>Ranked Output File:</a:t>
            </a:r>
          </a:p>
          <a:p>
            <a:r>
              <a:rPr sz="1000">
                <a:solidFill>
                  <a:srgbClr val="202729"/>
                </a:solidFill>
              </a:rPr>
              <a:t>outputs/mohd_ibadullah.csv (100 candidates, officially validated)</a:t>
            </a:r>
          </a:p>
          <a:p>
            <a:r>
              <a:rPr sz="1000">
                <a:solidFill>
                  <a:srgbClr val="202729"/>
                </a:solidFill>
              </a:rPr>
              <a:t/>
            </a:r>
          </a:p>
          <a:p>
            <a:r>
              <a:rPr sz="1000">
                <a:solidFill>
                  <a:srgbClr val="202729"/>
                </a:solidFill>
              </a:rPr>
              <a:t>Reproduce Command:</a:t>
            </a:r>
          </a:p>
          <a:p>
            <a:r>
              <a:rPr sz="1000">
                <a:solidFill>
                  <a:srgbClr val="202729"/>
                </a:solidFill>
              </a:rPr>
              <a:t>python src/run_pipeline_full.py --candidates ./candidates.jsonl --out ./outputs/mohd_ibadullah.csv</a:t>
            </a:r>
          </a:p>
          <a:p>
            <a:r>
              <a:rPr sz="1000">
                <a:solidFill>
                  <a:srgbClr val="202729"/>
                </a:solidFill>
              </a:rPr>
              <a:t/>
            </a:r>
          </a:p>
          <a:p>
            <a:r>
              <a:rPr sz="1000">
                <a:solidFill>
                  <a:srgbClr val="202729"/>
                </a:solidFill>
              </a:rPr>
              <a:t>Note: Live Demo runs on 50-candidate sample. Full 100K requires local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