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5143500" cx="9144000"/>
  <p:notesSz cx="6858000" cy="9144000"/>
  <p:embeddedFontLst>
    <p:embeddedFont>
      <p:font typeface="Manrope SemiBold"/>
      <p:regular r:id="rId17"/>
      <p:bold r:id="rId18"/>
    </p:embeddedFont>
    <p:embeddedFont>
      <p:font typeface="Manrope ExtraBold"/>
      <p:bold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font" Target="fonts/ManropeSemiBold-regular.fntdata"/><Relationship Id="rId18" Type="http://schemas.openxmlformats.org/officeDocument/2006/relationships/font" Target="fonts/ManropeSemiBold-bold.fntdata"/><Relationship Id="rId19" Type="http://schemas.openxmlformats.org/officeDocument/2006/relationships/font" Target="fonts/ManropeExtra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e5dd6731f7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e5dd6731f7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e5dd6731f7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e5dd6731f7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e5dd6731f7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e5dd6731f7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e5dd6731f7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e5dd6731f7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e5dd6731f7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e5dd6731f7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e5dd6731f7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e5dd6731f7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e5dd6731f7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e5dd6731f7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e5dd6731f7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e5dd6731f7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e5dd6731f7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e5dd6731f7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e5dd6731f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e5dd6731f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background redrob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311700" y="3065023"/>
            <a:ext cx="8520600" cy="4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202729"/>
                </a:solidFill>
              </a:rPr>
              <a:t>Team Name: TalentLens AI</a:t>
            </a:r>
            <a:endParaRPr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11705" y="3916185"/>
            <a:ext cx="8520600" cy="4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202729"/>
                </a:solidFill>
              </a:rPr>
              <a:t>Problem Statement: Intelligent Candidate Discovery &amp; Ranking (100K candidates on CPU)</a:t>
            </a:r>
            <a:endParaRPr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311688" y="3472483"/>
            <a:ext cx="8520600" cy="4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202729"/>
                </a:solidFill>
              </a:rPr>
              <a:t>Team Leader: Mohd Ibadullah</a:t>
            </a:r>
            <a:endParaRPr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62;p14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14"/>
          <p:cNvSpPr txBox="1"/>
          <p:nvPr/>
        </p:nvSpPr>
        <p:spPr>
          <a:xfrm>
            <a:off x="480500" y="812600"/>
            <a:ext cx="24030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sz="1800" b="1">
                <a:solidFill>
                  <a:srgbClr val="202729"/>
                </a:solidFill>
              </a:rPr>
              <a:t>Solution Overview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64" name="Google Shape;64;p14"/>
          <p:cNvSpPr txBox="1"/>
          <p:nvPr/>
        </p:nvSpPr>
        <p:spPr>
          <a:xfrm>
            <a:off x="375600" y="1278512"/>
            <a:ext cx="8520600" cy="32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D45E0"/>
              </a:buClr>
              <a:buSzPts val="1365"/>
              <a:buFont typeface="Manrope SemiBold"/>
              <a:buChar char="●"/>
            </a:pPr>
            <a:r>
              <a:rPr sz="900">
                <a:solidFill>
                  <a:srgbClr val="202729"/>
                </a:solidFill>
              </a:rPr>
              <a:t>What is your proposed solution?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r>
              <a:rPr sz="900">
                <a:solidFill>
                  <a:srgbClr val="202729"/>
                </a:solidFill>
              </a:rPr>
              <a:t/>
            </a:r>
          </a:p>
          <a:p>
            <a:r>
              <a:rPr sz="900">
                <a:solidFill>
                  <a:srgbClr val="202729"/>
                </a:solidFill>
              </a:rPr>
              <a:t>TalentLens AI is a 6-stage intelligent candidate ranking pipeline that processes 100,000 profiles in ~28 seconds on CPU-only hardware. It combines BM25 filtering, Honeypot detection, BGE semantic embeddings (BAAI/bge-base-en-v1.5), Cross-Encoder reranking (ms-marco-MiniLM-L6-v2), and Redrob behavioral signals to produce a validated ranked shortlist of the top 100 candidates.</a:t>
            </a:r>
          </a:p>
          <a:p>
            <a:r>
              <a:rPr sz="900">
                <a:solidFill>
                  <a:srgbClr val="202729"/>
                </a:solidFill>
              </a:rPr>
              <a:t/>
            </a:r>
          </a:p>
          <a:p>
            <a:r>
              <a:rPr sz="900">
                <a:solidFill>
                  <a:srgbClr val="202729"/>
                </a:solidFill>
              </a:rPr>
              <a:t>What differentiates your approach from traditional candidate matching systems?</a:t>
            </a:r>
          </a:p>
          <a:p>
            <a:r>
              <a:rPr sz="900">
                <a:solidFill>
                  <a:srgbClr val="202729"/>
                </a:solidFill>
              </a:rPr>
              <a:t/>
            </a:r>
          </a:p>
          <a:p>
            <a:r>
              <a:rPr sz="900">
                <a:solidFill>
                  <a:srgbClr val="202729"/>
                </a:solidFill>
              </a:rPr>
              <a:t>• Cross-Encoder Reranking: Applies ms-marco-MiniLM-L6-v2 on top-150 candidates for precise lexical-semantic contextual relevance.</a:t>
            </a:r>
          </a:p>
          <a:p>
            <a:r>
              <a:rPr sz="900">
                <a:solidFill>
                  <a:srgbClr val="202729"/>
                </a:solidFill>
              </a:rPr>
              <a:t>• Honeypot Trap Detector: Identifies keyword-stuffed decoy profiles by cross-checking career history against claimed skills (0.0% honeypot rate in top 100).</a:t>
            </a:r>
          </a:p>
          <a:p>
            <a:r>
              <a:rPr sz="900">
                <a:solidFill>
                  <a:srgbClr val="202729"/>
                </a:solidFill>
              </a:rPr>
              <a:t>• Signal-Aware Scoring: Integrates recruiter response rate, notice period, GitHub activity, and profile completeness — treating missing values as neutral, not penalties.</a:t>
            </a:r>
          </a:p>
          <a:p>
            <a:r>
              <a:rPr sz="900">
                <a:solidFill>
                  <a:srgbClr val="202729"/>
                </a:solidFill>
              </a:rPr>
              <a:t>• Hybrid Reasoning: Uses a deterministic rule-based generator for offline reproduction, and an offline Gemini/Groq utility for natural, rank-consistent CSV explanations.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sz="1800" b="1">
                <a:solidFill>
                  <a:srgbClr val="202729"/>
                </a:solidFill>
              </a:rPr>
              <a:t>JD Understanding &amp; Candidate Evaluation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71" name="Google Shape;71;p15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D45E0"/>
              </a:buClr>
              <a:buSzPts val="1365"/>
              <a:buFont typeface="Manrope SemiBold"/>
              <a:buChar char="●"/>
            </a:pPr>
            <a:r>
              <a:rPr sz="900">
                <a:solidFill>
                  <a:srgbClr val="202729"/>
                </a:solidFill>
              </a:rPr>
              <a:t>What are the key requirements extracted from the JD?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r>
              <a:rPr sz="900">
                <a:solidFill>
                  <a:srgbClr val="202729"/>
                </a:solidFill>
              </a:rPr>
              <a:t/>
            </a:r>
          </a:p>
          <a:p>
            <a:r>
              <a:rPr sz="900">
                <a:solidFill>
                  <a:srgbClr val="202729"/>
                </a:solidFill>
              </a:rPr>
              <a:t>• Role title, seniority level, minimum years of experience</a:t>
            </a:r>
          </a:p>
          <a:p>
            <a:r>
              <a:rPr sz="900">
                <a:solidFill>
                  <a:srgbClr val="202729"/>
                </a:solidFill>
              </a:rPr>
              <a:t>• Required skills: Python, NLP, Vector Search, Embeddings, LLM Fine-tuning, Information Retrieval, Ranking Systems</a:t>
            </a:r>
          </a:p>
          <a:p>
            <a:r>
              <a:rPr sz="900">
                <a:solidFill>
                  <a:srgbClr val="202729"/>
                </a:solidFill>
              </a:rPr>
              <a:t>• Nice-to-have skills: PyTorch, TensorFlow, MLOps, RAG, FAISS, Milvus, Pinecone</a:t>
            </a:r>
          </a:p>
          <a:p>
            <a:r>
              <a:rPr sz="900">
                <a:solidFill>
                  <a:srgbClr val="202729"/>
                </a:solidFill>
              </a:rPr>
              <a:t>• Domain keywords for lexical search boosting</a:t>
            </a:r>
          </a:p>
          <a:p>
            <a:r>
              <a:rPr sz="900">
                <a:solidFill>
                  <a:srgbClr val="202729"/>
                </a:solidFill>
              </a:rPr>
              <a:t/>
            </a:r>
          </a:p>
          <a:p>
            <a:r>
              <a:rPr sz="900">
                <a:solidFill>
                  <a:srgbClr val="202729"/>
                </a:solidFill>
              </a:rPr>
              <a:t>Which candidate signals are most important for determining relevance?</a:t>
            </a:r>
          </a:p>
          <a:p>
            <a:r>
              <a:rPr sz="900">
                <a:solidFill>
                  <a:srgbClr val="202729"/>
                </a:solidFill>
              </a:rPr>
              <a:t/>
            </a:r>
          </a:p>
          <a:p>
            <a:r>
              <a:rPr sz="900">
                <a:solidFill>
                  <a:srgbClr val="202729"/>
                </a:solidFill>
              </a:rPr>
              <a:t>• Cross-Encoder reranking relevance (ms-marco-MiniLM-L6-v2)</a:t>
            </a:r>
          </a:p>
          <a:p>
            <a:r>
              <a:rPr sz="900">
                <a:solidFill>
                  <a:srgbClr val="202729"/>
                </a:solidFill>
              </a:rPr>
              <a:t>• Semantic similarity (BAAI/bge-base-en-v1.5, 768-dim embeddings)</a:t>
            </a:r>
          </a:p>
          <a:p>
            <a:r>
              <a:rPr sz="900">
                <a:solidFill>
                  <a:srgbClr val="202729"/>
                </a:solidFill>
              </a:rPr>
              <a:t>• Skill overlap with proficiency weighting and endorsement bonuses</a:t>
            </a:r>
          </a:p>
          <a:p>
            <a:r>
              <a:rPr sz="900">
                <a:solidFill>
                  <a:srgbClr val="202729"/>
                </a:solidFill>
              </a:rPr>
              <a:t>• Title relevance + years of experience fit</a:t>
            </a:r>
          </a:p>
          <a:p>
            <a:r>
              <a:rPr sz="900">
                <a:solidFill>
                  <a:srgbClr val="202729"/>
                </a:solidFill>
              </a:rPr>
              <a:t>• Redrob behavioral signals (recruiter response rate, notice period, GitHub activity, profile completeness)</a:t>
            </a:r>
          </a:p>
          <a:p>
            <a:r>
              <a:rPr sz="900">
                <a:solidFill>
                  <a:srgbClr val="202729"/>
                </a:solidFill>
              </a:rPr>
              <a:t>• Career history consistency (used for honeypot detection)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sz="1800" b="1">
                <a:solidFill>
                  <a:srgbClr val="202729"/>
                </a:solidFill>
              </a:rPr>
              <a:t>Ranking Methodology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78" name="Google Shape;78;p16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D45E0"/>
              </a:buClr>
              <a:buSzPts val="1365"/>
              <a:buFont typeface="Manrope SemiBold"/>
              <a:buChar char="●"/>
            </a:pPr>
            <a:r>
              <a:rPr sz="900">
                <a:solidFill>
                  <a:srgbClr val="202729"/>
                </a:solidFill>
              </a:rPr>
              <a:t>How does your system retrieve, score, and rank candidates?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r>
              <a:rPr sz="900">
                <a:solidFill>
                  <a:srgbClr val="202729"/>
                </a:solidFill>
              </a:rPr>
              <a:t/>
            </a:r>
          </a:p>
          <a:p>
            <a:r>
              <a:rPr sz="900">
                <a:solidFill>
                  <a:srgbClr val="202729"/>
                </a:solidFill>
              </a:rPr>
              <a:t>Stage 1 — BM25 Filter: Narrows 100K to 1,000 candidates in ~8 seconds using tokenized JD terms.</a:t>
            </a:r>
          </a:p>
          <a:p>
            <a:r>
              <a:rPr sz="900">
                <a:solidFill>
                  <a:srgbClr val="202729"/>
                </a:solidFill>
              </a:rPr>
              <a:t>Stage 2 — Honeypot Trap Detector: Flags decoys with career-title mismatches and boilerplate summaries.</a:t>
            </a:r>
          </a:p>
          <a:p>
            <a:r>
              <a:rPr sz="900">
                <a:solidFill>
                  <a:srgbClr val="202729"/>
                </a:solidFill>
              </a:rPr>
              <a:t>Stage 3 — Semantic Embedding: BAAI/bge-base-en-v1.5 computes similarity between JD and candidates.</a:t>
            </a:r>
          </a:p>
          <a:p>
            <a:r>
              <a:rPr sz="900">
                <a:solidFill>
                  <a:srgbClr val="202729"/>
                </a:solidFill>
              </a:rPr>
              <a:t>Stage 4 — Cross-Encoder Reranking: Reranks top 150 candidates using ms-marco-MiniLM-L6-v2.</a:t>
            </a:r>
          </a:p>
          <a:p>
            <a:r>
              <a:rPr sz="900">
                <a:solidFill>
                  <a:srgbClr val="202729"/>
                </a:solidFill>
              </a:rPr>
              <a:t>Stage 5 — Weighted Feature Scoring: Final Score = 100 × (0.40×Semantic + 0.20×Skills + 0.20×Title + 0.10×Signals) / 0.90 − 0.40×TrapPenalty.</a:t>
            </a:r>
          </a:p>
          <a:p>
            <a:r>
              <a:rPr sz="900">
                <a:solidFill>
                  <a:srgbClr val="202729"/>
                </a:solidFill>
              </a:rPr>
              <a:t>Stage 6 — Tie-breaking: score descending, then candidate_id ascending.</a:t>
            </a:r>
          </a:p>
          <a:p>
            <a:r>
              <a:rPr sz="900">
                <a:solidFill>
                  <a:srgbClr val="202729"/>
                </a:solidFill>
              </a:rPr>
              <a:t/>
            </a:r>
          </a:p>
          <a:p>
            <a:r>
              <a:rPr sz="900">
                <a:solidFill>
                  <a:srgbClr val="202729"/>
                </a:solidFill>
              </a:rPr>
              <a:t>Models &amp; Algorithms Used:</a:t>
            </a:r>
          </a:p>
          <a:p>
            <a:r>
              <a:rPr sz="900">
                <a:solidFill>
                  <a:srgbClr val="202729"/>
                </a:solidFill>
              </a:rPr>
              <a:t>• BM25Okapi (rank-bm25) for lexical retrieval</a:t>
            </a:r>
          </a:p>
          <a:p>
            <a:r>
              <a:rPr sz="900">
                <a:solidFill>
                  <a:srgbClr val="202729"/>
                </a:solidFill>
              </a:rPr>
              <a:t>• BAAI/bge-base-en-v1.5 transformer (768-dim, CLS pooling, instruction prefix)</a:t>
            </a:r>
          </a:p>
          <a:p>
            <a:r>
              <a:rPr sz="900">
                <a:solidFill>
                  <a:srgbClr val="202729"/>
                </a:solidFill>
              </a:rPr>
              <a:t>• cross-encoder/ms-marco-MiniLM-L6-v2 for contextual reranking</a:t>
            </a:r>
          </a:p>
          <a:p>
            <a:r>
              <a:rPr sz="900">
                <a:solidFill>
                  <a:srgbClr val="202729"/>
                </a:solidFill>
              </a:rPr>
              <a:t>• RapidFuzz token_sort_ratio (85% threshold) for fuzzy skill matching</a:t>
            </a:r>
          </a:p>
          <a:p>
            <a:r>
              <a:rPr sz="900">
                <a:solidFill>
                  <a:srgbClr val="202729"/>
                </a:solidFill>
              </a:rPr>
              <a:t>• Rule-based honeypot detector with 45 keywords across 12 categories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p17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7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sz="1800" b="1">
                <a:solidFill>
                  <a:srgbClr val="202729"/>
                </a:solidFill>
              </a:rPr>
              <a:t>Explainability &amp; Data Validation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85" name="Google Shape;85;p17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D45E0"/>
              </a:buClr>
              <a:buSzPts val="1365"/>
              <a:buFont typeface="Manrope SemiBold"/>
              <a:buChar char="●"/>
            </a:pPr>
            <a:r>
              <a:rPr sz="900">
                <a:solidFill>
                  <a:srgbClr val="202729"/>
                </a:solidFill>
              </a:rPr>
              <a:t>How are ranking decisions explained?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r>
              <a:rPr sz="900">
                <a:solidFill>
                  <a:srgbClr val="202729"/>
                </a:solidFill>
              </a:rPr>
              <a:t>• Each candidate gets a unique reasoning referencing their actual matched skills, YoE, title, and signal data.</a:t>
            </a:r>
          </a:p>
          <a:p>
            <a:r>
              <a:rPr sz="900">
                <a:solidFill>
                  <a:srgbClr val="202729"/>
                </a:solidFill>
              </a:rPr>
              <a:t>• Tone is rank-consistent: top-15 get strong endorsements, 50+ get honest gap acknowledgments.</a:t>
            </a:r>
          </a:p>
          <a:p>
            <a:r>
              <a:rPr sz="900">
                <a:solidFill>
                  <a:srgbClr val="202729"/>
                </a:solidFill>
              </a:rPr>
              <a:t/>
            </a:r>
          </a:p>
          <a:p>
            <a:r>
              <a:rPr sz="900">
                <a:solidFill>
                  <a:srgbClr val="202729"/>
                </a:solidFill>
              </a:rPr>
              <a:t>How do you prevent hallucinations or unsupported justifications?</a:t>
            </a:r>
          </a:p>
          <a:p>
            <a:r>
              <a:rPr sz="900">
                <a:solidFill>
                  <a:srgbClr val="202729"/>
                </a:solidFill>
              </a:rPr>
              <a:t>• Offline reproduction script runs fully offline with deterministic rule-based reasoning.</a:t>
            </a:r>
          </a:p>
          <a:p>
            <a:r>
              <a:rPr sz="900">
                <a:solidFill>
                  <a:srgbClr val="202729"/>
                </a:solidFill>
              </a:rPr>
              <a:t>• Offline Gemini/Groq generator utility creates natural, rank-consistent reasons in the final CSV.</a:t>
            </a:r>
          </a:p>
          <a:p>
            <a:r>
              <a:rPr sz="900">
                <a:solidFill>
                  <a:srgbClr val="202729"/>
                </a:solidFill>
              </a:rPr>
              <a:t>• Skills mentioned in reasoning are pulled directly from the candidate's profile data, never fabricated.</a:t>
            </a:r>
          </a:p>
          <a:p>
            <a:r>
              <a:rPr sz="900">
                <a:solidFill>
                  <a:srgbClr val="202729"/>
                </a:solidFill>
              </a:rPr>
              <a:t/>
            </a:r>
          </a:p>
          <a:p>
            <a:r>
              <a:rPr sz="900">
                <a:solidFill>
                  <a:srgbClr val="202729"/>
                </a:solidFill>
              </a:rPr>
              <a:t>How does your solution handle inconsistent or suspicious profiles?</a:t>
            </a:r>
          </a:p>
          <a:p>
            <a:r>
              <a:rPr sz="900">
                <a:solidFill>
                  <a:srgbClr val="202729"/>
                </a:solidFill>
              </a:rPr>
              <a:t>• Honeypot detector checks: summary boilerplate, AI skill-stuffing on non-AI titles, career mismatches.</a:t>
            </a:r>
          </a:p>
          <a:p>
            <a:r>
              <a:rPr sz="900">
                <a:solidFill>
                  <a:srgbClr val="202729"/>
                </a:solidFill>
              </a:rPr>
              <a:t>• Trap penalty of up to 40 points subtracted from final score.</a:t>
            </a:r>
          </a:p>
          <a:p>
            <a:r>
              <a:rPr sz="900">
                <a:solidFill>
                  <a:srgbClr val="202729"/>
                </a:solidFill>
              </a:rPr>
              <a:t>• Result: 0.0% honeypot rate in top 100.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18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8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sz="1800" b="1">
                <a:solidFill>
                  <a:srgbClr val="202729"/>
                </a:solidFill>
              </a:rPr>
              <a:t>End-to-End Workflow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92" name="Google Shape;92;p18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D45E0"/>
              </a:buClr>
              <a:buSzPts val="1365"/>
              <a:buFont typeface="Manrope SemiBold"/>
              <a:buChar char="●"/>
            </a:pPr>
            <a:r>
              <a:rPr sz="900">
                <a:solidFill>
                  <a:srgbClr val="202729"/>
                </a:solidFill>
              </a:rPr>
              <a:t>Complete Workflow (JD Input → Ranked CSV Output):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r>
              <a:rPr sz="900">
                <a:solidFill>
                  <a:srgbClr val="202729"/>
                </a:solidFill>
              </a:rPr>
              <a:t/>
            </a:r>
          </a:p>
          <a:p>
            <a:r>
              <a:rPr sz="900">
                <a:solidFill>
                  <a:srgbClr val="202729"/>
                </a:solidFill>
              </a:rPr>
              <a:t>1. JD Parsing → Extracts role title, required/nice-to-have skills, experience, seniority, domain keywords.</a:t>
            </a:r>
          </a:p>
          <a:p>
            <a:r>
              <a:rPr sz="900">
                <a:solidFill>
                  <a:srgbClr val="202729"/>
                </a:solidFill>
              </a:rPr>
              <a:t>2. BM25 Filter → 100K candidates streamed from JSONL, lexically filtered to top 1,000.</a:t>
            </a:r>
          </a:p>
          <a:p>
            <a:r>
              <a:rPr sz="900">
                <a:solidFill>
                  <a:srgbClr val="202729"/>
                </a:solidFill>
              </a:rPr>
              <a:t>3. Honeypot Detection → Candidates checked for career-title inconsistency and template summaries.</a:t>
            </a:r>
          </a:p>
          <a:p>
            <a:r>
              <a:rPr sz="900">
                <a:solidFill>
                  <a:srgbClr val="202729"/>
                </a:solidFill>
              </a:rPr>
              <a:t>4. Semantic Embedding → BGE encodes JD and candidate profiles. Cosine similarity computed.</a:t>
            </a:r>
          </a:p>
          <a:p>
            <a:r>
              <a:rPr sz="900">
                <a:solidFill>
                  <a:srgbClr val="202729"/>
                </a:solidFill>
              </a:rPr>
              <a:t>5. Cross-Encoder → MiniLM reranks the top 150 candidates.</a:t>
            </a:r>
          </a:p>
          <a:p>
            <a:r>
              <a:rPr sz="900">
                <a:solidFill>
                  <a:srgbClr val="202729"/>
                </a:solidFill>
              </a:rPr>
              <a:t>6. Feature Scoring → Weighted: Semantic(40%) + Skills(20%) + Title(20%) + Signals(10%) − Trap(40%).</a:t>
            </a:r>
          </a:p>
          <a:p>
            <a:r>
              <a:rPr sz="900">
                <a:solidFill>
                  <a:srgbClr val="202729"/>
                </a:solidFill>
              </a:rPr>
              <a:t>7. Reasoning Generation → Rank-aware, candidate-specific reasons written to CSV.</a:t>
            </a:r>
          </a:p>
          <a:p>
            <a:r>
              <a:rPr sz="900">
                <a:solidFill>
                  <a:srgbClr val="202729"/>
                </a:solidFill>
              </a:rPr>
              <a:t/>
            </a:r>
          </a:p>
          <a:p>
            <a:r>
              <a:rPr sz="900">
                <a:solidFill>
                  <a:srgbClr val="202729"/>
                </a:solidFill>
              </a:rPr>
              <a:t>Single reproduce command:</a:t>
            </a:r>
          </a:p>
          <a:p>
            <a:r>
              <a:rPr sz="900">
                <a:solidFill>
                  <a:srgbClr val="202729"/>
                </a:solidFill>
              </a:rPr>
              <a:t>python src/run_pipeline_full.py --candidates ./candidates.jsonl --out ./outputs/mohd_ibadullah.csv</a:t>
            </a:r>
          </a:p>
          <a:p>
            <a:r>
              <a:rPr sz="900">
                <a:solidFill>
                  <a:srgbClr val="202729"/>
                </a:solidFill>
              </a:rPr>
              <a:t/>
            </a:r>
          </a:p>
          <a:p>
            <a:r>
              <a:rPr sz="900">
                <a:solidFill>
                  <a:srgbClr val="202729"/>
                </a:solidFill>
              </a:rPr>
              <a:t>Runtime: ~28 seconds | Memory: ~1.3 GB | CPU only | No network calls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9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9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sz="1800" b="1">
                <a:solidFill>
                  <a:srgbClr val="202729"/>
                </a:solidFill>
              </a:rPr>
              <a:t>System Architecture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03;p20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20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sz="1800" b="1">
                <a:solidFill>
                  <a:srgbClr val="202729"/>
                </a:solidFill>
              </a:rPr>
              <a:t>Results &amp; Performance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105" name="Google Shape;105;p20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D45E0"/>
              </a:buClr>
              <a:buSzPts val="1365"/>
              <a:buFont typeface="Manrope SemiBold"/>
              <a:buChar char="●"/>
            </a:pPr>
            <a:r>
              <a:rPr sz="900">
                <a:solidFill>
                  <a:srgbClr val="202729"/>
                </a:solidFill>
              </a:rPr>
              <a:t>Ranking Quality Metrics (vs BM25 Lexical Baseline):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r>
              <a:rPr sz="900">
                <a:solidFill>
                  <a:srgbClr val="202729"/>
                </a:solidFill>
              </a:rPr>
              <a:t>• Precision@10: 1.0000 (ours) vs 0.4000 (baseline) — +150% boost</a:t>
            </a:r>
          </a:p>
          <a:p>
            <a:r>
              <a:rPr sz="900">
                <a:solidFill>
                  <a:srgbClr val="202729"/>
                </a:solidFill>
              </a:rPr>
              <a:t>• Recall@20: 1.0000 (ours) vs 0.4000 (baseline) — +150% boost</a:t>
            </a:r>
          </a:p>
          <a:p>
            <a:r>
              <a:rPr sz="900">
                <a:solidFill>
                  <a:srgbClr val="202729"/>
                </a:solidFill>
              </a:rPr>
              <a:t>• NDCG@10: 1.0000 (ours) vs 0.4288 (baseline) — +133.2% boost</a:t>
            </a:r>
          </a:p>
          <a:p>
            <a:r>
              <a:rPr sz="900">
                <a:solidFill>
                  <a:srgbClr val="202729"/>
                </a:solidFill>
              </a:rPr>
              <a:t>• Honeypot rate: 0.0% in Top 1000 after Stage 2 filter (vs 30.1% baseline)</a:t>
            </a:r>
          </a:p>
          <a:p>
            <a:r>
              <a:rPr sz="900">
                <a:solidFill>
                  <a:srgbClr val="202729"/>
                </a:solidFill>
              </a:rPr>
              <a:t>• 100 unique, non-templated reasonings, scores monotonically non-increasing</a:t>
            </a:r>
          </a:p>
          <a:p>
            <a:r>
              <a:rPr sz="900">
                <a:solidFill>
                  <a:srgbClr val="202729"/>
                </a:solidFill>
              </a:rPr>
              <a:t/>
            </a:r>
          </a:p>
          <a:p>
            <a:r>
              <a:rPr sz="900">
                <a:solidFill>
                  <a:srgbClr val="202729"/>
                </a:solidFill>
              </a:rPr>
              <a:t>Runtime &amp; Compute Constraints (reproduced locally on CPU):</a:t>
            </a:r>
          </a:p>
          <a:p>
            <a:r>
              <a:rPr sz="900">
                <a:solidFill>
                  <a:srgbClr val="202729"/>
                </a:solidFill>
              </a:rPr>
              <a:t>• Total runtime: ~28 seconds (budget: 300 seconds) — 90% under limit</a:t>
            </a:r>
          </a:p>
          <a:p>
            <a:r>
              <a:rPr sz="900">
                <a:solidFill>
                  <a:srgbClr val="202729"/>
                </a:solidFill>
              </a:rPr>
              <a:t>• Memory: ~1.3 GB (budget: 16 GB) — 91% under limit</a:t>
            </a:r>
          </a:p>
          <a:p>
            <a:r>
              <a:rPr sz="900">
                <a:solidFill>
                  <a:srgbClr val="202729"/>
                </a:solidFill>
              </a:rPr>
              <a:t>• CPU only — no GPU used</a:t>
            </a:r>
          </a:p>
          <a:p>
            <a:r>
              <a:rPr sz="900">
                <a:solidFill>
                  <a:srgbClr val="202729"/>
                </a:solidFill>
              </a:rPr>
              <a:t>• No external API calls during ranking (fully sandboxed)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21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21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sz="1800" b="1">
                <a:solidFill>
                  <a:srgbClr val="202729"/>
                </a:solidFill>
              </a:rPr>
              <a:t>Technologies Used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112" name="Google Shape;112;p21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D45E0"/>
              </a:buClr>
              <a:buSzPts val="1365"/>
              <a:buFont typeface="Manrope SemiBold"/>
              <a:buChar char="●"/>
            </a:pPr>
            <a:r>
              <a:rPr sz="900">
                <a:solidFill>
                  <a:srgbClr val="202729"/>
                </a:solidFill>
              </a:rPr>
              <a:t>Core Technologies &amp; Why: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r>
              <a:rPr sz="900">
                <a:solidFill>
                  <a:srgbClr val="202729"/>
                </a:solidFill>
              </a:rPr>
              <a:t>• Python 3.12 — Primary programming language</a:t>
            </a:r>
          </a:p>
          <a:p>
            <a:r>
              <a:rPr sz="900">
                <a:solidFill>
                  <a:srgbClr val="202729"/>
                </a:solidFill>
              </a:rPr>
              <a:t>• BAAI/bge-base-en-v1.5 — 768-dim semantic embeddings, superior retrieval quality</a:t>
            </a:r>
          </a:p>
          <a:p>
            <a:r>
              <a:rPr sz="900">
                <a:solidFill>
                  <a:srgbClr val="202729"/>
                </a:solidFill>
              </a:rPr>
              <a:t>• cross-encoder/ms-marco-MiniLM-L6-v2 — Fine-grained semantic reranking on top 150 candidates</a:t>
            </a:r>
          </a:p>
          <a:p>
            <a:r>
              <a:rPr sz="900">
                <a:solidFill>
                  <a:srgbClr val="202729"/>
                </a:solidFill>
              </a:rPr>
              <a:t>• PyTorch — Model inference backend (CPU mode)</a:t>
            </a:r>
          </a:p>
          <a:p>
            <a:r>
              <a:rPr sz="900">
                <a:solidFill>
                  <a:srgbClr val="202729"/>
                </a:solidFill>
              </a:rPr>
              <a:t>• rank-bm25 (BM25Okapi) — Lexical filtering, fast and memory-efficient</a:t>
            </a:r>
          </a:p>
          <a:p>
            <a:r>
              <a:rPr sz="900">
                <a:solidFill>
                  <a:srgbClr val="202729"/>
                </a:solidFill>
              </a:rPr>
              <a:t>• RapidFuzz — Fuzzy skill matching with token_sort_ratio</a:t>
            </a:r>
          </a:p>
          <a:p>
            <a:r>
              <a:rPr sz="900">
                <a:solidFill>
                  <a:srgbClr val="202729"/>
                </a:solidFill>
              </a:rPr>
              <a:t>• Pandas &amp; NumPy — Numerical operations and output handling</a:t>
            </a:r>
          </a:p>
          <a:p>
            <a:r>
              <a:rPr sz="900">
                <a:solidFill>
                  <a:srgbClr val="202729"/>
                </a:solidFill>
              </a:rPr>
              <a:t>• Streamlit — Interactive web dashboard with dark theme and weight sliders</a:t>
            </a:r>
          </a:p>
          <a:p>
            <a:r>
              <a:rPr sz="900">
                <a:solidFill>
                  <a:srgbClr val="202729"/>
                </a:solidFill>
              </a:rPr>
              <a:t>• Gemini 2.5 Flash / Groq APIs — Interview question generator (demo feature)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2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2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sz="1800" b="1">
                <a:solidFill>
                  <a:srgbClr val="202729"/>
                </a:solidFill>
              </a:rPr>
              <a:t>Submission Assets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119" name="Google Shape;119;p22"/>
          <p:cNvSpPr txBox="1"/>
          <p:nvPr/>
        </p:nvSpPr>
        <p:spPr>
          <a:xfrm>
            <a:off x="480500" y="1278500"/>
            <a:ext cx="7968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>
                <a:solidFill>
                  <a:srgbClr val="202729"/>
                </a:solidFill>
              </a:rPr>
              <a:t>GitHub Repository (Public):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r>
              <a:rPr sz="1000">
                <a:solidFill>
                  <a:srgbClr val="202729"/>
                </a:solidFill>
              </a:rPr>
              <a:t>https://github.com/mohd-ibadullah/TalentLensAI</a:t>
            </a:r>
          </a:p>
          <a:p>
            <a:r>
              <a:rPr sz="1000">
                <a:solidFill>
                  <a:srgbClr val="202729"/>
                </a:solidFill>
              </a:rPr>
              <a:t/>
            </a:r>
          </a:p>
          <a:p>
            <a:r>
              <a:rPr sz="1000">
                <a:solidFill>
                  <a:srgbClr val="202729"/>
                </a:solidFill>
              </a:rPr>
              <a:t>Live Demo (Streamlit Cloud):</a:t>
            </a:r>
          </a:p>
          <a:p>
            <a:r>
              <a:rPr sz="1000">
                <a:solidFill>
                  <a:srgbClr val="202729"/>
                </a:solidFill>
              </a:rPr>
              <a:t>https://talentlensai-nxrk7zxjmaxvnwnubyvz7n.streamlit.app</a:t>
            </a:r>
          </a:p>
          <a:p>
            <a:r>
              <a:rPr sz="1000">
                <a:solidFill>
                  <a:srgbClr val="202729"/>
                </a:solidFill>
              </a:rPr>
              <a:t/>
            </a:r>
          </a:p>
          <a:p>
            <a:r>
              <a:rPr sz="1000">
                <a:solidFill>
                  <a:srgbClr val="202729"/>
                </a:solidFill>
              </a:rPr>
              <a:t>Ranked Output File:</a:t>
            </a:r>
          </a:p>
          <a:p>
            <a:r>
              <a:rPr sz="1000">
                <a:solidFill>
                  <a:srgbClr val="202729"/>
                </a:solidFill>
              </a:rPr>
              <a:t>outputs/mohd_ibadullah.csv (100 candidates, officially validated)</a:t>
            </a:r>
          </a:p>
          <a:p>
            <a:r>
              <a:rPr sz="1000">
                <a:solidFill>
                  <a:srgbClr val="202729"/>
                </a:solidFill>
              </a:rPr>
              <a:t/>
            </a:r>
          </a:p>
          <a:p>
            <a:r>
              <a:rPr sz="1000">
                <a:solidFill>
                  <a:srgbClr val="202729"/>
                </a:solidFill>
              </a:rPr>
              <a:t>Reproduce Command:</a:t>
            </a:r>
          </a:p>
          <a:p>
            <a:r>
              <a:rPr sz="1000">
                <a:solidFill>
                  <a:srgbClr val="202729"/>
                </a:solidFill>
              </a:rPr>
              <a:t>python src/run_pipeline_full.py --candidates ./candidates.jsonl --out ./outputs/mohd_ibadullah.csv</a:t>
            </a:r>
          </a:p>
          <a:p>
            <a:r>
              <a:rPr sz="1000">
                <a:solidFill>
                  <a:srgbClr val="202729"/>
                </a:solidFill>
              </a:rPr>
              <a:t/>
            </a:r>
          </a:p>
          <a:p>
            <a:r>
              <a:rPr sz="1000">
                <a:solidFill>
                  <a:srgbClr val="202729"/>
                </a:solidFill>
              </a:rPr>
              <a:t>Note: Live Demo runs on 50-candidate sample. Full 100K requires local setup.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3" title="thank you slide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