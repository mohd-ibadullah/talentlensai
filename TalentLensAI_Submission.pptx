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202729"/>
                </a:solidFill>
              </a:rPr>
              <a:t>Team Name: TalentLens AI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02729"/>
                </a:solidFill>
              </a:rPr>
              <a:t>Problem Statement: Intelligent Candidate Discovery &amp; Ranking (100K candidates on CPU)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02729"/>
                </a:solidFill>
              </a:rPr>
              <a:t>Team Leader: Mohd Ibadullah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What is your proposed solution?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TalentLens AI is a 6-stage intelligent candidate ranking pipeline that processes 100,000 profiles in ~28 seconds on CPU-only hardware. It combines BM25 filtering, Honeypot detection, BGE semantic embeddings (BAAI/bge-base-en-v1.5), Cross-Encoder reranking (ms-marco-MiniLM-L6-v2), and Redrob behavioral signals to produce a validated ranked shortlist of the top 100 candidates.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What differentiates your approach from traditional candidate matching systems?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• Cross-Encoder Reranking: Applies ms-marco-MiniLM-L6-v2 on top-150 candidates for precise lexical-semantic contextual relevance.</a:t>
            </a:r>
          </a:p>
          <a:p>
            <a:r>
              <a:rPr sz="900">
                <a:solidFill>
                  <a:srgbClr val="202729"/>
                </a:solidFill>
              </a:rPr>
              <a:t>• Honeypot Trap Detector: Identifies keyword-stuffed decoy profiles by cross-checking career history against claimed skills (0.0% honeypot rate in top 100).</a:t>
            </a:r>
          </a:p>
          <a:p>
            <a:r>
              <a:rPr sz="900">
                <a:solidFill>
                  <a:srgbClr val="202729"/>
                </a:solidFill>
              </a:rPr>
              <a:t>• Signal-Aware Scoring: Integrates recruiter response rate, notice period, GitHub activity, and profile completeness — treating missing values as neutral, not penalties.</a:t>
            </a:r>
          </a:p>
          <a:p>
            <a:r>
              <a:rPr sz="900">
                <a:solidFill>
                  <a:srgbClr val="202729"/>
                </a:solidFill>
              </a:rPr>
              <a:t>• Hybrid Reasoning: Offline rule-based reasoning for submission CSV (no API). Streamlit demo may use optional Gemini for interview questions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sz="1800" b="1">
                <a:solidFill>
                  <a:srgbClr val="202729"/>
                </a:solidFill>
              </a:rPr>
              <a:t>JD Understanding &amp; Candidate Evaluation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What are the key requirements extracted from the JD?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• Role title, seniority level, minimum years of experience</a:t>
            </a:r>
          </a:p>
          <a:p>
            <a:r>
              <a:rPr sz="900">
                <a:solidFill>
                  <a:srgbClr val="202729"/>
                </a:solidFill>
              </a:rPr>
              <a:t>• Required skills: Python, NLP, Vector Search, Embeddings, LLM Fine-tuning, Information Retrieval, Ranking Systems</a:t>
            </a:r>
          </a:p>
          <a:p>
            <a:r>
              <a:rPr sz="900">
                <a:solidFill>
                  <a:srgbClr val="202729"/>
                </a:solidFill>
              </a:rPr>
              <a:t>• Nice-to-have skills: PyTorch, TensorFlow, MLOps, RAG, FAISS, Milvus, Pinecone</a:t>
            </a:r>
          </a:p>
          <a:p>
            <a:r>
              <a:rPr sz="900">
                <a:solidFill>
                  <a:srgbClr val="202729"/>
                </a:solidFill>
              </a:rPr>
              <a:t>• Domain keywords for lexical search boosting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Which candidate signals are most important for determining relevance?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• Cross-Encoder reranking relevance (ms-marco-MiniLM-L6-v2)</a:t>
            </a:r>
          </a:p>
          <a:p>
            <a:r>
              <a:rPr sz="900">
                <a:solidFill>
                  <a:srgbClr val="202729"/>
                </a:solidFill>
              </a:rPr>
              <a:t>• Semantic similarity (BAAI/bge-base-en-v1.5, 768-dim embeddings)</a:t>
            </a:r>
          </a:p>
          <a:p>
            <a:r>
              <a:rPr sz="900">
                <a:solidFill>
                  <a:srgbClr val="202729"/>
                </a:solidFill>
              </a:rPr>
              <a:t>• Skill overlap with proficiency weighting and endorsement bonuses</a:t>
            </a:r>
          </a:p>
          <a:p>
            <a:r>
              <a:rPr sz="900">
                <a:solidFill>
                  <a:srgbClr val="202729"/>
                </a:solidFill>
              </a:rPr>
              <a:t>• Title relevance + years of experience fit</a:t>
            </a:r>
          </a:p>
          <a:p>
            <a:r>
              <a:rPr sz="900">
                <a:solidFill>
                  <a:srgbClr val="202729"/>
                </a:solidFill>
              </a:rPr>
              <a:t>• Redrob behavioral signals (recruiter response rate, notice period, GitHub activity, profile completeness)</a:t>
            </a:r>
          </a:p>
          <a:p>
            <a:r>
              <a:rPr sz="900">
                <a:solidFill>
                  <a:srgbClr val="202729"/>
                </a:solidFill>
              </a:rPr>
              <a:t>• Career history consistency (used for honeypot detection)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How does your system retrieve, score, and rank candidates?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Stage 1 — Hybrid Retrieval: BM25 top-1,000 + BGE dense top-1,000 union (~1,500 candidates, two-pass streaming).</a:t>
            </a:r>
          </a:p>
          <a:p>
            <a:r>
              <a:rPr sz="900">
                <a:solidFill>
                  <a:srgbClr val="202729"/>
                </a:solidFill>
              </a:rPr>
              <a:t>Stage 2 — Honeypot Trap Detector: Flags decoys with career-title mismatches, expert-skill-with-0-months, timeline traps.</a:t>
            </a:r>
          </a:p>
          <a:p>
            <a:r>
              <a:rPr sz="900">
                <a:solidFill>
                  <a:srgbClr val="202729"/>
                </a:solidFill>
              </a:rPr>
              <a:t>Stage 3 — Feature Scoring: Semantic(40%) + Skills(20%) + Title(20%) + Signals(10%); trap veto at score ≥ 0.40.</a:t>
            </a:r>
          </a:p>
          <a:p>
            <a:r>
              <a:rPr sz="900">
                <a:solidFill>
                  <a:srgbClr val="202729"/>
                </a:solidFill>
              </a:rPr>
              <a:t>Stage 4 — Cross-Encoder Reranking: ms-marco-MiniLM-L6-v2 reranks top 150 (60% feature + 40% CE blend).</a:t>
            </a:r>
          </a:p>
          <a:p>
            <a:r>
              <a:rPr sz="900">
                <a:solidFill>
                  <a:srgbClr val="202729"/>
                </a:solidFill>
              </a:rPr>
              <a:t>Stage 5 — Offline Reasoning: Profile-specific, rank-aware text (company, skills, Redrob signals).</a:t>
            </a:r>
          </a:p>
          <a:p>
            <a:r>
              <a:rPr sz="900">
                <a:solidFill>
                  <a:srgbClr val="202729"/>
                </a:solidFill>
              </a:rPr>
              <a:t>Stage 6 — CSV Output: Top 100, scores capped at 99.4%, tie-break by candidate_id ascending.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Models &amp; Algorithms Used:</a:t>
            </a:r>
          </a:p>
          <a:p>
            <a:r>
              <a:rPr sz="900">
                <a:solidFill>
                  <a:srgbClr val="202729"/>
                </a:solidFill>
              </a:rPr>
              <a:t>• BM25Okapi (rank-bm25) for lexical retrieval</a:t>
            </a:r>
          </a:p>
          <a:p>
            <a:r>
              <a:rPr sz="900">
                <a:solidFill>
                  <a:srgbClr val="202729"/>
                </a:solidFill>
              </a:rPr>
              <a:t>• BAAI/bge-base-en-v1.5 transformer (768-dim, CLS pooling, instruction prefix)</a:t>
            </a:r>
          </a:p>
          <a:p>
            <a:r>
              <a:rPr sz="900">
                <a:solidFill>
                  <a:srgbClr val="202729"/>
                </a:solidFill>
              </a:rPr>
              <a:t>• cross-encoder/ms-marco-MiniLM-L6-v2 for contextual reranking</a:t>
            </a:r>
          </a:p>
          <a:p>
            <a:r>
              <a:rPr sz="900">
                <a:solidFill>
                  <a:srgbClr val="202729"/>
                </a:solidFill>
              </a:rPr>
              <a:t>• RapidFuzz token_sort_ratio (85% threshold) for fuzzy skill matching</a:t>
            </a:r>
          </a:p>
          <a:p>
            <a:r>
              <a:rPr sz="900">
                <a:solidFill>
                  <a:srgbClr val="202729"/>
                </a:solidFill>
              </a:rPr>
              <a:t>• Rule-based honeypot detector with 45 keywords across 12 categories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How are ranking decisions explained?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>• Each candidate gets a unique reasoning referencing their actual matched skills, YoE, title, and signal data.</a:t>
            </a:r>
          </a:p>
          <a:p>
            <a:r>
              <a:rPr sz="900">
                <a:solidFill>
                  <a:srgbClr val="202729"/>
                </a:solidFill>
              </a:rPr>
              <a:t>• Tone is rank-consistent: top-15 get strong endorsements, 50+ get honest gap acknowledgments.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How do you prevent hallucinations or unsupported justifications?</a:t>
            </a:r>
          </a:p>
          <a:p>
            <a:r>
              <a:rPr sz="900">
                <a:solidFill>
                  <a:srgbClr val="202729"/>
                </a:solidFill>
              </a:rPr>
              <a:t>• Offline rule-based reasoning only during ranking (use_llm=False).</a:t>
            </a:r>
          </a:p>
          <a:p>
            <a:r>
              <a:rPr sz="900">
                <a:solidFill>
                  <a:srgbClr val="202729"/>
                </a:solidFill>
              </a:rPr>
              <a:t>• Skills in reasoning matched via RapidFuzz against JD requirements — never fabricated.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How does your solution handle inconsistent or suspicious profiles?</a:t>
            </a:r>
          </a:p>
          <a:p>
            <a:r>
              <a:rPr sz="900">
                <a:solidFill>
                  <a:srgbClr val="202729"/>
                </a:solidFill>
              </a:rPr>
              <a:t>• Honeypot detector checks: summary boilerplate, AI skill-stuffing on non-AI titles, career mismatches.</a:t>
            </a:r>
          </a:p>
          <a:p>
            <a:r>
              <a:rPr sz="900">
                <a:solidFill>
                  <a:srgbClr val="202729"/>
                </a:solidFill>
              </a:rPr>
              <a:t>• Trap penalty of up to 40 points subtracted from final score.</a:t>
            </a:r>
          </a:p>
          <a:p>
            <a:r>
              <a:rPr sz="900">
                <a:solidFill>
                  <a:srgbClr val="202729"/>
                </a:solidFill>
              </a:rPr>
              <a:t>• Result: 0.0% honeypot rate in top 100.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Complete Workflow (JD Input → Ranked CSV Output):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1. JD Parsing → Extracts role title, required/nice-to-have skills, experience, seniority, domain keywords.</a:t>
            </a:r>
          </a:p>
          <a:p>
            <a:r>
              <a:rPr sz="900">
                <a:solidFill>
                  <a:srgbClr val="202729"/>
                </a:solidFill>
              </a:rPr>
              <a:t>2. BM25 Filter → 100K candidates streamed from JSONL, lexically filtered to top 1,000.</a:t>
            </a:r>
          </a:p>
          <a:p>
            <a:r>
              <a:rPr sz="900">
                <a:solidFill>
                  <a:srgbClr val="202729"/>
                </a:solidFill>
              </a:rPr>
              <a:t>3. Honeypot Detection → Candidates checked for career-title inconsistency and template summaries.</a:t>
            </a:r>
          </a:p>
          <a:p>
            <a:r>
              <a:rPr sz="900">
                <a:solidFill>
                  <a:srgbClr val="202729"/>
                </a:solidFill>
              </a:rPr>
              <a:t>4. Semantic Embedding → BGE encodes JD and candidate profiles. Cosine similarity computed.</a:t>
            </a:r>
          </a:p>
          <a:p>
            <a:r>
              <a:rPr sz="900">
                <a:solidFill>
                  <a:srgbClr val="202729"/>
                </a:solidFill>
              </a:rPr>
              <a:t>5. Cross-Encoder → MiniLM reranks the top 150 candidates.</a:t>
            </a:r>
          </a:p>
          <a:p>
            <a:r>
              <a:rPr sz="900">
                <a:solidFill>
                  <a:srgbClr val="202729"/>
                </a:solidFill>
              </a:rPr>
              <a:t>6. Feature Scoring → Weighted: Semantic(40%) + Skills(20%) + Title(20%) + Signals(10%) − Trap(40%).</a:t>
            </a:r>
          </a:p>
          <a:p>
            <a:r>
              <a:rPr sz="900">
                <a:solidFill>
                  <a:srgbClr val="202729"/>
                </a:solidFill>
              </a:rPr>
              <a:t>7. Reasoning Generation → Rank-aware, candidate-specific reasons written to CSV.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Single reproduce command:</a:t>
            </a:r>
          </a:p>
          <a:p>
            <a:r>
              <a:rPr sz="900">
                <a:solidFill>
                  <a:srgbClr val="202729"/>
                </a:solidFill>
              </a:rPr>
              <a:t>python rank.py --candidates ./candidates.jsonl --out ./outputs/mohd_ibadullah.csv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Runtime: ~28s warm | Peak RAM: ~2–4 GB | CPU only | No network during ranking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Ranking Quality (relative lift vs BM25 baseline — pseudo-relevance eval, not ground truth):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>• Precision@10: +150% relative lift</a:t>
            </a:r>
          </a:p>
          <a:p>
            <a:r>
              <a:rPr sz="900">
                <a:solidFill>
                  <a:srgbClr val="202729"/>
                </a:solidFill>
              </a:rPr>
              <a:t>• Recall@20: +150% relative lift</a:t>
            </a:r>
          </a:p>
          <a:p>
            <a:r>
              <a:rPr sz="900">
                <a:solidFill>
                  <a:srgbClr val="202729"/>
                </a:solidFill>
              </a:rPr>
              <a:t>• NDCG@10: +133.2% relative lift</a:t>
            </a:r>
          </a:p>
          <a:p>
            <a:r>
              <a:rPr sz="900">
                <a:solidFill>
                  <a:srgbClr val="202729"/>
                </a:solidFill>
              </a:rPr>
              <a:t>• Honeypot rate: 0.0% in top 100 (vs ~30% in BM25 top-1000 pool)</a:t>
            </a:r>
          </a:p>
          <a:p>
            <a:r>
              <a:rPr sz="900">
                <a:solidFill>
                  <a:srgbClr val="202729"/>
                </a:solidFill>
              </a:rPr>
              <a:t>• 100 unique profile-specific reasonings; scores monotonically non-increasing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Runtime &amp; Compute (warm run, models + embeddings pre-cached):</a:t>
            </a:r>
          </a:p>
          <a:p>
            <a:r>
              <a:rPr sz="900">
                <a:solidFill>
                  <a:srgbClr val="202729"/>
                </a:solidFill>
              </a:rPr>
              <a:t>• Total runtime: ~28 seconds (budget: 300s)</a:t>
            </a:r>
          </a:p>
          <a:p>
            <a:r>
              <a:rPr sz="900">
                <a:solidFill>
                  <a:srgbClr val="202729"/>
                </a:solidFill>
              </a:rPr>
              <a:t>• Peak memory: ~2–4 GB (budget: 16 GB)</a:t>
            </a:r>
          </a:p>
          <a:p>
            <a:r>
              <a:rPr sz="900">
                <a:solidFill>
                  <a:srgbClr val="202729"/>
                </a:solidFill>
              </a:rPr>
              <a:t>• One-time setup: setup.ps1 downloads models + precomputes embeddings (~15 min)</a:t>
            </a:r>
          </a:p>
          <a:p>
            <a:r>
              <a:rPr sz="900">
                <a:solidFill>
                  <a:srgbClr val="202729"/>
                </a:solidFill>
              </a:rPr>
              <a:t>• CPU only; no external API calls during ranking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Core Technologies &amp; Why: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>• Python 3.12 — Primary programming language</a:t>
            </a:r>
          </a:p>
          <a:p>
            <a:r>
              <a:rPr sz="900">
                <a:solidFill>
                  <a:srgbClr val="202729"/>
                </a:solidFill>
              </a:rPr>
              <a:t>• BAAI/bge-base-en-v1.5 — 768-dim semantic embeddings, superior retrieval quality</a:t>
            </a:r>
          </a:p>
          <a:p>
            <a:r>
              <a:rPr sz="900">
                <a:solidFill>
                  <a:srgbClr val="202729"/>
                </a:solidFill>
              </a:rPr>
              <a:t>• cross-encoder/ms-marco-MiniLM-L6-v2 — Fine-grained semantic reranking on top 150 candidates</a:t>
            </a:r>
          </a:p>
          <a:p>
            <a:r>
              <a:rPr sz="900">
                <a:solidFill>
                  <a:srgbClr val="202729"/>
                </a:solidFill>
              </a:rPr>
              <a:t>• PyTorch — Model inference backend (CPU mode)</a:t>
            </a:r>
          </a:p>
          <a:p>
            <a:r>
              <a:rPr sz="900">
                <a:solidFill>
                  <a:srgbClr val="202729"/>
                </a:solidFill>
              </a:rPr>
              <a:t>• rank-bm25 (BM25Okapi) — Lexical filtering, fast and memory-efficient</a:t>
            </a:r>
          </a:p>
          <a:p>
            <a:r>
              <a:rPr sz="900">
                <a:solidFill>
                  <a:srgbClr val="202729"/>
                </a:solidFill>
              </a:rPr>
              <a:t>• RapidFuzz — Fuzzy skill matching with token_sort_ratio</a:t>
            </a:r>
          </a:p>
          <a:p>
            <a:r>
              <a:rPr sz="900">
                <a:solidFill>
                  <a:srgbClr val="202729"/>
                </a:solidFill>
              </a:rPr>
              <a:t>• Pandas &amp; NumPy — Numerical operations and output handling</a:t>
            </a:r>
          </a:p>
          <a:p>
            <a:r>
              <a:rPr sz="900">
                <a:solidFill>
                  <a:srgbClr val="202729"/>
                </a:solidFill>
              </a:rPr>
              <a:t>• Streamlit — Interactive web dashboard with dark theme and weight sliders</a:t>
            </a:r>
          </a:p>
          <a:p>
            <a:r>
              <a:rPr sz="900">
                <a:solidFill>
                  <a:srgbClr val="202729"/>
                </a:solidFill>
              </a:rPr>
              <a:t>• Gemini 2.5 Flash / Groq APIs — Interview question generator (demo feature)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rgbClr val="202729"/>
                </a:solidFill>
              </a:rPr>
              <a:t>GitHub Repository (Public):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1000">
                <a:solidFill>
                  <a:srgbClr val="202729"/>
                </a:solidFill>
              </a:rPr>
              <a:t>https://github.com/mohd-ibadullah/TalentLensAI</a:t>
            </a:r>
          </a:p>
          <a:p>
            <a:r>
              <a:rPr sz="1000">
                <a:solidFill>
                  <a:srgbClr val="202729"/>
                </a:solidFill>
              </a:rPr>
              <a:t/>
            </a:r>
          </a:p>
          <a:p>
            <a:r>
              <a:rPr sz="1000">
                <a:solidFill>
                  <a:srgbClr val="202729"/>
                </a:solidFill>
              </a:rPr>
              <a:t>Live Demo (Streamlit Cloud):</a:t>
            </a:r>
          </a:p>
          <a:p>
            <a:r>
              <a:rPr sz="1000">
                <a:solidFill>
                  <a:srgbClr val="202729"/>
                </a:solidFill>
              </a:rPr>
              <a:t>https://talentlensai-nxrk7zxjmaxvnwnubyvz7n.streamlit.app</a:t>
            </a:r>
          </a:p>
          <a:p>
            <a:r>
              <a:rPr sz="1000">
                <a:solidFill>
                  <a:srgbClr val="202729"/>
                </a:solidFill>
              </a:rPr>
              <a:t/>
            </a:r>
          </a:p>
          <a:p>
            <a:r>
              <a:rPr sz="1000">
                <a:solidFill>
                  <a:srgbClr val="202729"/>
                </a:solidFill>
              </a:rPr>
              <a:t>Ranked Output File:</a:t>
            </a:r>
          </a:p>
          <a:p>
            <a:r>
              <a:rPr sz="1000">
                <a:solidFill>
                  <a:srgbClr val="202729"/>
                </a:solidFill>
              </a:rPr>
              <a:t>outputs/mohd_ibadullah.csv (100 candidates, officially validated)</a:t>
            </a:r>
          </a:p>
          <a:p>
            <a:r>
              <a:rPr sz="1000">
                <a:solidFill>
                  <a:srgbClr val="202729"/>
                </a:solidFill>
              </a:rPr>
              <a:t/>
            </a:r>
          </a:p>
          <a:p>
            <a:r>
              <a:rPr sz="1000">
                <a:solidFill>
                  <a:srgbClr val="202729"/>
                </a:solidFill>
              </a:rPr>
              <a:t>Reproduce Command:</a:t>
            </a:r>
          </a:p>
          <a:p>
            <a:r>
              <a:rPr sz="1000">
                <a:solidFill>
                  <a:srgbClr val="202729"/>
                </a:solidFill>
              </a:rPr>
              <a:t>python rank.py --candidates ./candidates.jsonl --out ./outputs/mohd_ibadullah.csv</a:t>
            </a:r>
          </a:p>
          <a:p>
            <a:r>
              <a:rPr sz="1000">
                <a:solidFill>
                  <a:srgbClr val="202729"/>
                </a:solidFill>
              </a:rPr>
              <a:t/>
            </a:r>
          </a:p>
          <a:p>
            <a:r>
              <a:rPr sz="1000">
                <a:solidFill>
                  <a:srgbClr val="202729"/>
                </a:solidFill>
              </a:rPr>
              <a:t>Note: Live Demo runs on 50-candidate sample. Full 100K requires local setup.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